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5" r:id="rId16"/>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5" Type="http://schemas.openxmlformats.org/officeDocument/2006/relationships/slide" Target="slides/slide9.xml"/><Relationship Id="rId16"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7315200" cy="320040"/>
          </a:xfrm>
          <a:prstGeom prst="rect">
            <a:avLst/>
          </a:prstGeom>
          <a:noFill/>
        </p:spPr>
        <p:txBody>
          <a:bodyPr wrap="none">
            <a:spAutoFit/>
          </a:bodyPr>
          <a:lstStyle/>
          <a:p>
            <a:pPr>
              <a:defRPr sz="1000" b="1">
                <a:solidFill>
                  <a:srgbClr val="1CBEAA"/>
                </a:solidFill>
              </a:defRPr>
            </a:pPr>
            <a:r>
              <a:t>IT VEDANT • SQL / MYSQL PROJECT</a:t>
            </a:r>
          </a:p>
        </p:txBody>
      </p:sp>
      <p:sp>
        <p:nvSpPr>
          <p:cNvPr id="4" name="TextBox 3"/>
          <p:cNvSpPr txBox="1"/>
          <p:nvPr/>
        </p:nvSpPr>
        <p:spPr>
          <a:xfrm>
            <a:off x="10881360" y="201168"/>
            <a:ext cx="640080" cy="320040"/>
          </a:xfrm>
          <a:prstGeom prst="rect">
            <a:avLst/>
          </a:prstGeom>
          <a:noFill/>
        </p:spPr>
        <p:txBody>
          <a:bodyPr wrap="none">
            <a:spAutoFit/>
          </a:bodyPr>
          <a:lstStyle/>
          <a:p>
            <a:pPr algn="r">
              <a:defRPr sz="1000" b="1">
                <a:solidFill>
                  <a:srgbClr val="A6B5C7"/>
                </a:solidFill>
              </a:defRPr>
            </a:pPr>
            <a:r>
              <a:t>01</a:t>
            </a:r>
          </a:p>
        </p:txBody>
      </p:sp>
      <p:sp>
        <p:nvSpPr>
          <p:cNvPr id="5" name="TextBox 4"/>
          <p:cNvSpPr txBox="1"/>
          <p:nvPr/>
        </p:nvSpPr>
        <p:spPr>
          <a:xfrm>
            <a:off x="731520" y="1234440"/>
            <a:ext cx="10241280" cy="914400"/>
          </a:xfrm>
          <a:prstGeom prst="rect">
            <a:avLst/>
          </a:prstGeom>
          <a:noFill/>
        </p:spPr>
        <p:txBody>
          <a:bodyPr wrap="none">
            <a:spAutoFit/>
          </a:bodyPr>
          <a:lstStyle/>
          <a:p>
            <a:pPr>
              <a:defRPr sz="4200" b="1">
                <a:solidFill>
                  <a:srgbClr val="F5F8FC"/>
                </a:solidFill>
              </a:defRPr>
            </a:pPr>
            <a:r>
              <a:t>Student Management System</a:t>
            </a:r>
          </a:p>
        </p:txBody>
      </p:sp>
      <p:sp>
        <p:nvSpPr>
          <p:cNvPr id="6" name="TextBox 5"/>
          <p:cNvSpPr txBox="1"/>
          <p:nvPr/>
        </p:nvSpPr>
        <p:spPr>
          <a:xfrm>
            <a:off x="749808" y="2148840"/>
            <a:ext cx="9144000" cy="548640"/>
          </a:xfrm>
          <a:prstGeom prst="rect">
            <a:avLst/>
          </a:prstGeom>
          <a:noFill/>
        </p:spPr>
        <p:txBody>
          <a:bodyPr wrap="none">
            <a:spAutoFit/>
          </a:bodyPr>
          <a:lstStyle/>
          <a:p>
            <a:pPr>
              <a:defRPr sz="2200" b="1">
                <a:solidFill>
                  <a:srgbClr val="1CBEAA"/>
                </a:solidFill>
              </a:defRPr>
            </a:pPr>
            <a:r>
              <a:t>MySQL Database Project</a:t>
            </a:r>
          </a:p>
        </p:txBody>
      </p:sp>
      <p:sp>
        <p:nvSpPr>
          <p:cNvPr id="7" name="Rounded Rectangle 6"/>
          <p:cNvSpPr/>
          <p:nvPr/>
        </p:nvSpPr>
        <p:spPr>
          <a:xfrm>
            <a:off x="777240" y="3703320"/>
            <a:ext cx="2834640" cy="685800"/>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5F8FC"/>
                </a:solidFill>
              </a:defRPr>
            </a:pPr>
            <a:r>
              <a:t>500 Students</a:t>
            </a:r>
          </a:p>
        </p:txBody>
      </p:sp>
      <p:sp>
        <p:nvSpPr>
          <p:cNvPr id="8" name="Rounded Rectangle 7"/>
          <p:cNvSpPr/>
          <p:nvPr/>
        </p:nvSpPr>
        <p:spPr>
          <a:xfrm>
            <a:off x="4023359" y="3703320"/>
            <a:ext cx="2834640" cy="685800"/>
          </a:xfrm>
          <a:prstGeom prst="roundRect">
            <a:avLst/>
          </a:prstGeom>
          <a:solidFill>
            <a:srgbClr val="14263E"/>
          </a:solidFill>
          <a:ln>
            <a:solidFill>
              <a:srgbClr val="F5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5F8FC"/>
                </a:solidFill>
              </a:defRPr>
            </a:pPr>
            <a:r>
              <a:t>6 Courses</a:t>
            </a:r>
          </a:p>
        </p:txBody>
      </p:sp>
      <p:sp>
        <p:nvSpPr>
          <p:cNvPr id="9" name="Rounded Rectangle 8"/>
          <p:cNvSpPr/>
          <p:nvPr/>
        </p:nvSpPr>
        <p:spPr>
          <a:xfrm>
            <a:off x="7269479" y="3703320"/>
            <a:ext cx="2834640" cy="685800"/>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5F8FC"/>
                </a:solidFill>
              </a:defRPr>
            </a:pPr>
            <a:r>
              <a:t>1,933 Enrollments</a:t>
            </a:r>
          </a:p>
        </p:txBody>
      </p:sp>
      <p:sp>
        <p:nvSpPr>
          <p:cNvPr id="10" name="TextBox 9"/>
          <p:cNvSpPr txBox="1"/>
          <p:nvPr/>
        </p:nvSpPr>
        <p:spPr>
          <a:xfrm>
            <a:off x="777240" y="4892040"/>
            <a:ext cx="7315200" cy="457200"/>
          </a:xfrm>
          <a:prstGeom prst="rect">
            <a:avLst/>
          </a:prstGeom>
          <a:noFill/>
        </p:spPr>
        <p:txBody>
          <a:bodyPr wrap="none">
            <a:spAutoFit/>
          </a:bodyPr>
          <a:lstStyle/>
          <a:p>
            <a:pPr>
              <a:defRPr sz="1500" b="0">
                <a:solidFill>
                  <a:srgbClr val="A6B5C7"/>
                </a:solidFill>
              </a:defRPr>
            </a:pPr>
            <a:r>
              <a:t>Presented by Arshad Mansuri  •  Database: MySQL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7315200" cy="320040"/>
          </a:xfrm>
          <a:prstGeom prst="rect">
            <a:avLst/>
          </a:prstGeom>
          <a:noFill/>
        </p:spPr>
        <p:txBody>
          <a:bodyPr wrap="none">
            <a:spAutoFit/>
          </a:bodyPr>
          <a:lstStyle/>
          <a:p>
            <a:pPr>
              <a:defRPr sz="1000" b="1">
                <a:solidFill>
                  <a:srgbClr val="1CBEAA"/>
                </a:solidFill>
              </a:defRPr>
            </a:pPr>
            <a:r>
              <a:t>01 • OVERVIEW</a:t>
            </a:r>
          </a:p>
        </p:txBody>
      </p:sp>
      <p:sp>
        <p:nvSpPr>
          <p:cNvPr id="4" name="TextBox 3"/>
          <p:cNvSpPr txBox="1"/>
          <p:nvPr/>
        </p:nvSpPr>
        <p:spPr>
          <a:xfrm>
            <a:off x="10881360" y="201168"/>
            <a:ext cx="640080" cy="320040"/>
          </a:xfrm>
          <a:prstGeom prst="rect">
            <a:avLst/>
          </a:prstGeom>
          <a:noFill/>
        </p:spPr>
        <p:txBody>
          <a:bodyPr wrap="none">
            <a:spAutoFit/>
          </a:bodyPr>
          <a:lstStyle/>
          <a:p>
            <a:pPr algn="r">
              <a:defRPr sz="1000" b="1">
                <a:solidFill>
                  <a:srgbClr val="A6B5C7"/>
                </a:solidFill>
              </a:defRPr>
            </a:pPr>
            <a:r>
              <a:t>02</a:t>
            </a:r>
          </a:p>
        </p:txBody>
      </p:sp>
      <p:sp>
        <p:nvSpPr>
          <p:cNvPr id="5" name="TextBox 4"/>
          <p:cNvSpPr txBox="1"/>
          <p:nvPr/>
        </p:nvSpPr>
        <p:spPr>
          <a:xfrm>
            <a:off x="640080" y="1051560"/>
            <a:ext cx="10515600" cy="914400"/>
          </a:xfrm>
          <a:prstGeom prst="rect">
            <a:avLst/>
          </a:prstGeom>
          <a:noFill/>
        </p:spPr>
        <p:txBody>
          <a:bodyPr wrap="none">
            <a:spAutoFit/>
          </a:bodyPr>
          <a:lstStyle/>
          <a:p>
            <a:pPr>
              <a:defRPr sz="3400" b="1">
                <a:solidFill>
                  <a:srgbClr val="F5F8FC"/>
                </a:solidFill>
              </a:defRPr>
            </a:pPr>
            <a:r>
              <a:t>Project Overview</a:t>
            </a:r>
          </a:p>
        </p:txBody>
      </p:sp>
      <p:sp>
        <p:nvSpPr>
          <p:cNvPr id="6" name="TextBox 5"/>
          <p:cNvSpPr txBox="1"/>
          <p:nvPr/>
        </p:nvSpPr>
        <p:spPr>
          <a:xfrm>
            <a:off x="658368" y="1965960"/>
            <a:ext cx="10058400" cy="594360"/>
          </a:xfrm>
          <a:prstGeom prst="rect">
            <a:avLst/>
          </a:prstGeom>
          <a:noFill/>
        </p:spPr>
        <p:txBody>
          <a:bodyPr wrap="none">
            <a:spAutoFit/>
          </a:bodyPr>
          <a:lstStyle/>
          <a:p>
            <a:pPr>
              <a:defRPr sz="1500" b="0">
                <a:solidFill>
                  <a:srgbClr val="A6B5C7"/>
                </a:solidFill>
              </a:defRPr>
            </a:pPr>
            <a:r>
              <a:t>A relational Student Management System built for SQL practice and presentation.</a:t>
            </a:r>
          </a:p>
        </p:txBody>
      </p:sp>
      <p:sp>
        <p:nvSpPr>
          <p:cNvPr id="7" name="Rounded Rectangle 6"/>
          <p:cNvSpPr/>
          <p:nvPr/>
        </p:nvSpPr>
        <p:spPr>
          <a:xfrm>
            <a:off x="685800" y="2880360"/>
            <a:ext cx="3246120" cy="1097280"/>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5F8FC"/>
                </a:solidFill>
              </a:defRPr>
            </a:pPr>
            <a:r>
              <a:t>Students</a:t>
            </a:r>
          </a:p>
          <a:p>
            <a:pPr>
              <a:defRPr sz="1300">
                <a:solidFill>
                  <a:srgbClr val="A6B5C7"/>
                </a:solidFill>
              </a:defRPr>
            </a:pPr>
            <a:r>
              <a:t>500 records</a:t>
            </a:r>
          </a:p>
        </p:txBody>
      </p:sp>
      <p:sp>
        <p:nvSpPr>
          <p:cNvPr id="8" name="Rounded Rectangle 7"/>
          <p:cNvSpPr/>
          <p:nvPr/>
        </p:nvSpPr>
        <p:spPr>
          <a:xfrm>
            <a:off x="4389120" y="2880360"/>
            <a:ext cx="3246120" cy="1097280"/>
          </a:xfrm>
          <a:prstGeom prst="roundRect">
            <a:avLst/>
          </a:prstGeom>
          <a:solidFill>
            <a:srgbClr val="14263E"/>
          </a:solidFill>
          <a:ln>
            <a:solidFill>
              <a:srgbClr val="F5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5F8FC"/>
                </a:solidFill>
              </a:defRPr>
            </a:pPr>
            <a:r>
              <a:t>Courses</a:t>
            </a:r>
          </a:p>
          <a:p>
            <a:pPr>
              <a:defRPr sz="1300">
                <a:solidFill>
                  <a:srgbClr val="A6B5C7"/>
                </a:solidFill>
              </a:defRPr>
            </a:pPr>
            <a:r>
              <a:t>6 programs</a:t>
            </a:r>
          </a:p>
        </p:txBody>
      </p:sp>
      <p:sp>
        <p:nvSpPr>
          <p:cNvPr id="9" name="Rounded Rectangle 8"/>
          <p:cNvSpPr/>
          <p:nvPr/>
        </p:nvSpPr>
        <p:spPr>
          <a:xfrm>
            <a:off x="8092440" y="2880360"/>
            <a:ext cx="3246120" cy="1097280"/>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5F8FC"/>
                </a:solidFill>
              </a:defRPr>
            </a:pPr>
            <a:r>
              <a:t>Departments</a:t>
            </a:r>
          </a:p>
          <a:p>
            <a:pPr>
              <a:defRPr sz="1300">
                <a:solidFill>
                  <a:srgbClr val="A6B5C7"/>
                </a:solidFill>
              </a:defRPr>
            </a:pPr>
            <a:r>
              <a:t>3 departments</a:t>
            </a:r>
          </a:p>
        </p:txBody>
      </p:sp>
      <p:sp>
        <p:nvSpPr>
          <p:cNvPr id="10" name="Rounded Rectangle 9"/>
          <p:cNvSpPr/>
          <p:nvPr/>
        </p:nvSpPr>
        <p:spPr>
          <a:xfrm>
            <a:off x="685800" y="4297680"/>
            <a:ext cx="3246120" cy="1097280"/>
          </a:xfrm>
          <a:prstGeom prst="roundRect">
            <a:avLst/>
          </a:prstGeom>
          <a:solidFill>
            <a:srgbClr val="14263E"/>
          </a:solidFill>
          <a:ln>
            <a:solidFill>
              <a:srgbClr val="F5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5F8FC"/>
                </a:solidFill>
              </a:defRPr>
            </a:pPr>
            <a:r>
              <a:t>Faculty</a:t>
            </a:r>
          </a:p>
          <a:p>
            <a:pPr>
              <a:defRPr sz="1300">
                <a:solidFill>
                  <a:srgbClr val="A6B5C7"/>
                </a:solidFill>
              </a:defRPr>
            </a:pPr>
            <a:r>
              <a:t>30 records</a:t>
            </a:r>
          </a:p>
        </p:txBody>
      </p:sp>
      <p:sp>
        <p:nvSpPr>
          <p:cNvPr id="11" name="Rounded Rectangle 10"/>
          <p:cNvSpPr/>
          <p:nvPr/>
        </p:nvSpPr>
        <p:spPr>
          <a:xfrm>
            <a:off x="4389120" y="4297680"/>
            <a:ext cx="3246120" cy="1097280"/>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5F8FC"/>
                </a:solidFill>
              </a:defRPr>
            </a:pPr>
            <a:r>
              <a:t>Enrollments</a:t>
            </a:r>
          </a:p>
          <a:p>
            <a:pPr>
              <a:defRPr sz="1300">
                <a:solidFill>
                  <a:srgbClr val="A6B5C7"/>
                </a:solidFill>
              </a:defRPr>
            </a:pPr>
            <a:r>
              <a:t>1,933 records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7315200" cy="274320"/>
          </a:xfrm>
          <a:prstGeom prst="rect">
            <a:avLst/>
          </a:prstGeom>
          <a:noFill/>
        </p:spPr>
        <p:txBody>
          <a:bodyPr wrap="none">
            <a:spAutoFit/>
          </a:bodyPr>
          <a:lstStyle/>
          <a:p>
            <a:pPr>
              <a:defRPr sz="1000" b="1">
                <a:solidFill>
                  <a:srgbClr val="1CBEAA"/>
                </a:solidFill>
              </a:defRPr>
            </a:pPr>
            <a:r>
              <a:t>SQL QUERY 1</a:t>
            </a:r>
          </a:p>
        </p:txBody>
      </p:sp>
      <p:sp>
        <p:nvSpPr>
          <p:cNvPr id="4" name="TextBox 3"/>
          <p:cNvSpPr txBox="1"/>
          <p:nvPr/>
        </p:nvSpPr>
        <p:spPr>
          <a:xfrm>
            <a:off x="10881360" y="182880"/>
            <a:ext cx="640080" cy="274320"/>
          </a:xfrm>
          <a:prstGeom prst="rect">
            <a:avLst/>
          </a:prstGeom>
          <a:noFill/>
        </p:spPr>
        <p:txBody>
          <a:bodyPr wrap="none">
            <a:spAutoFit/>
          </a:bodyPr>
          <a:lstStyle/>
          <a:p>
            <a:pPr algn="r">
              <a:defRPr sz="1000" b="1">
                <a:solidFill>
                  <a:srgbClr val="A6B5C7"/>
                </a:solidFill>
              </a:defRPr>
            </a:pPr>
            <a:r>
              <a:t>01</a:t>
            </a:r>
          </a:p>
        </p:txBody>
      </p:sp>
      <p:sp>
        <p:nvSpPr>
          <p:cNvPr id="5" name="TextBox 4"/>
          <p:cNvSpPr txBox="1"/>
          <p:nvPr/>
        </p:nvSpPr>
        <p:spPr>
          <a:xfrm>
            <a:off x="594360" y="621792"/>
            <a:ext cx="10972800" cy="502920"/>
          </a:xfrm>
          <a:prstGeom prst="rect">
            <a:avLst/>
          </a:prstGeom>
          <a:noFill/>
        </p:spPr>
        <p:txBody>
          <a:bodyPr wrap="none">
            <a:spAutoFit/>
          </a:bodyPr>
          <a:lstStyle/>
          <a:p>
            <a:pPr>
              <a:defRPr sz="2500" b="1">
                <a:solidFill>
                  <a:srgbClr val="F5F8FC"/>
                </a:solidFill>
              </a:defRPr>
            </a:pPr>
            <a:r>
              <a:t>Student Course &amp; Department Details</a:t>
            </a:r>
          </a:p>
        </p:txBody>
      </p:sp>
      <p:sp>
        <p:nvSpPr>
          <p:cNvPr id="6" name="TextBox 5"/>
          <p:cNvSpPr txBox="1"/>
          <p:nvPr/>
        </p:nvSpPr>
        <p:spPr>
          <a:xfrm>
            <a:off x="612648" y="1097280"/>
            <a:ext cx="10972800" cy="502920"/>
          </a:xfrm>
          <a:prstGeom prst="rect">
            <a:avLst/>
          </a:prstGeom>
          <a:noFill/>
        </p:spPr>
        <p:txBody>
          <a:bodyPr wrap="none">
            <a:spAutoFit/>
          </a:bodyPr>
          <a:lstStyle/>
          <a:p>
            <a:pPr>
              <a:defRPr sz="1300" b="0">
                <a:solidFill>
                  <a:srgbClr val="A6B5C7"/>
                </a:solidFill>
              </a:defRPr>
            </a:pPr>
            <a:r>
              <a:t>How can we display each student's name along with the course and department they belong to?</a:t>
            </a:r>
          </a:p>
        </p:txBody>
      </p:sp>
      <p:sp>
        <p:nvSpPr>
          <p:cNvPr id="7" name="Rounded Rectangle 6"/>
          <p:cNvSpPr/>
          <p:nvPr/>
        </p:nvSpPr>
        <p:spPr>
          <a:xfrm>
            <a:off x="502920" y="1828800"/>
            <a:ext cx="5303520" cy="3017520"/>
          </a:xfrm>
          <a:prstGeom prst="roundRect">
            <a:avLst/>
          </a:prstGeom>
          <a:solidFill>
            <a:srgbClr val="070F1B"/>
          </a:solidFill>
          <a:ln>
            <a:solidFill>
              <a:srgbClr val="14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39112"/>
            <a:ext cx="4800600" cy="2651760"/>
          </a:xfrm>
          <a:prstGeom prst="rect">
            <a:avLst/>
          </a:prstGeom>
          <a:noFill/>
        </p:spPr>
        <p:txBody>
          <a:bodyPr wrap="none">
            <a:spAutoFit/>
          </a:bodyPr>
          <a:lstStyle/>
          <a:p>
            <a:pPr>
              <a:defRPr sz="1030">
                <a:solidFill>
                  <a:srgbClr val="F5F8FC"/>
                </a:solidFill>
                <a:latin typeface="Consolas"/>
              </a:defRPr>
            </a:pPr>
            <a:r>
              <a:t>SELECT</a:t>
            </a:r>
          </a:p>
          <a:p>
            <a:pPr>
              <a:defRPr sz="1030">
                <a:solidFill>
                  <a:srgbClr val="F5F8FC"/>
                </a:solidFill>
                <a:latin typeface="Consolas"/>
              </a:defRPr>
            </a:pPr>
            <a:r>
              <a:t>    s.student_id,</a:t>
            </a:r>
          </a:p>
          <a:p>
            <a:pPr>
              <a:defRPr sz="1030">
                <a:solidFill>
                  <a:srgbClr val="F5F8FC"/>
                </a:solidFill>
                <a:latin typeface="Consolas"/>
              </a:defRPr>
            </a:pPr>
            <a:r>
              <a:t>    s.student_name,</a:t>
            </a:r>
          </a:p>
          <a:p>
            <a:pPr>
              <a:defRPr sz="1030">
                <a:solidFill>
                  <a:srgbClr val="F5F8FC"/>
                </a:solidFill>
                <a:latin typeface="Consolas"/>
              </a:defRPr>
            </a:pPr>
            <a:r>
              <a:t>    c.course_name,</a:t>
            </a:r>
          </a:p>
          <a:p>
            <a:pPr>
              <a:defRPr sz="1030">
                <a:solidFill>
                  <a:srgbClr val="F5F8FC"/>
                </a:solidFill>
                <a:latin typeface="Consolas"/>
              </a:defRPr>
            </a:pPr>
            <a:r>
              <a:t>    d.department_name</a:t>
            </a:r>
          </a:p>
          <a:p>
            <a:pPr>
              <a:defRPr sz="1030">
                <a:solidFill>
                  <a:srgbClr val="F5F8FC"/>
                </a:solidFill>
                <a:latin typeface="Consolas"/>
              </a:defRPr>
            </a:pPr>
            <a:r>
              <a:t>FROM students s</a:t>
            </a:r>
          </a:p>
          <a:p>
            <a:pPr>
              <a:defRPr sz="1030">
                <a:solidFill>
                  <a:srgbClr val="F5F8FC"/>
                </a:solidFill>
                <a:latin typeface="Consolas"/>
              </a:defRPr>
            </a:pPr>
            <a:r>
              <a:t>INNER JOIN courses c</a:t>
            </a:r>
          </a:p>
          <a:p>
            <a:pPr>
              <a:defRPr sz="1030">
                <a:solidFill>
                  <a:srgbClr val="F5F8FC"/>
                </a:solidFill>
                <a:latin typeface="Consolas"/>
              </a:defRPr>
            </a:pPr>
            <a:r>
              <a:t>    ON s.course_id = c.course_id</a:t>
            </a:r>
          </a:p>
          <a:p>
            <a:pPr>
              <a:defRPr sz="1030">
                <a:solidFill>
                  <a:srgbClr val="F5F8FC"/>
                </a:solidFill>
                <a:latin typeface="Consolas"/>
              </a:defRPr>
            </a:pPr>
            <a:r>
              <a:t>INNER JOIN departments d</a:t>
            </a:r>
          </a:p>
          <a:p>
            <a:pPr>
              <a:defRPr sz="1030">
                <a:solidFill>
                  <a:srgbClr val="F5F8FC"/>
                </a:solidFill>
                <a:latin typeface="Consolas"/>
              </a:defRPr>
            </a:pPr>
            <a:r>
              <a:t>    ON c.department_id = d.department_id;</a:t>
            </a:r>
          </a:p>
        </p:txBody>
      </p:sp>
      <p:sp>
        <p:nvSpPr>
          <p:cNvPr id="9" name="Rounded Rectangle 8"/>
          <p:cNvSpPr/>
          <p:nvPr/>
        </p:nvSpPr>
        <p:spPr>
          <a:xfrm>
            <a:off x="5989320" y="1828800"/>
            <a:ext cx="5715000" cy="3017520"/>
          </a:xfrm>
          <a:prstGeom prst="roundRect">
            <a:avLst/>
          </a:prstGeom>
          <a:solidFill>
            <a:srgbClr val="14263E"/>
          </a:solidFill>
          <a:ln>
            <a:solidFill>
              <a:srgbClr val="F5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938528"/>
            <a:ext cx="5120640" cy="274320"/>
          </a:xfrm>
          <a:prstGeom prst="rect">
            <a:avLst/>
          </a:prstGeom>
          <a:noFill/>
        </p:spPr>
        <p:txBody>
          <a:bodyPr wrap="none">
            <a:spAutoFit/>
          </a:bodyPr>
          <a:lstStyle/>
          <a:p>
            <a:pPr>
              <a:defRPr sz="1000" b="1">
                <a:solidFill>
                  <a:srgbClr val="F5B84A"/>
                </a:solidFill>
              </a:defRPr>
            </a:pPr>
            <a:r>
              <a:t>MYSQL WORKBENCH OUTPUT</a:t>
            </a:r>
          </a:p>
        </p:txBody>
      </p:sp>
      <p:pic>
        <p:nvPicPr>
          <p:cNvPr id="11" name="Picture 10" descr="image.jpg"/>
          <p:cNvPicPr>
            <a:picLocks noChangeAspect="1"/>
          </p:cNvPicPr>
          <p:nvPr/>
        </p:nvPicPr>
        <p:blipFill>
          <a:blip r:embed="rId2"/>
          <a:stretch>
            <a:fillRect/>
          </a:stretch>
        </p:blipFill>
        <p:spPr>
          <a:xfrm>
            <a:off x="6217920" y="2304288"/>
            <a:ext cx="5212080" cy="2148840"/>
          </a:xfrm>
          <a:prstGeom prst="rect">
            <a:avLst/>
          </a:prstGeom>
        </p:spPr>
      </p:pic>
      <p:sp>
        <p:nvSpPr>
          <p:cNvPr id="12" name="TextBox 11"/>
          <p:cNvSpPr txBox="1"/>
          <p:nvPr/>
        </p:nvSpPr>
        <p:spPr>
          <a:xfrm>
            <a:off x="6217920" y="4517136"/>
            <a:ext cx="5120640" cy="228600"/>
          </a:xfrm>
          <a:prstGeom prst="rect">
            <a:avLst/>
          </a:prstGeom>
          <a:noFill/>
        </p:spPr>
        <p:txBody>
          <a:bodyPr wrap="none">
            <a:spAutoFit/>
          </a:bodyPr>
          <a:lstStyle/>
          <a:p>
            <a:pPr>
              <a:defRPr sz="950" b="0">
                <a:solidFill>
                  <a:srgbClr val="A6B5C7"/>
                </a:solidFill>
              </a:defRPr>
            </a:pPr>
            <a:r>
              <a:t>Actual MySQL Workbench output</a:t>
            </a:r>
          </a:p>
        </p:txBody>
      </p:sp>
      <p:sp>
        <p:nvSpPr>
          <p:cNvPr id="13" name="Rounded Rectangle 12"/>
          <p:cNvSpPr/>
          <p:nvPr/>
        </p:nvSpPr>
        <p:spPr>
          <a:xfrm>
            <a:off x="502920" y="5074920"/>
            <a:ext cx="11201400" cy="987552"/>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230368"/>
            <a:ext cx="914400" cy="274320"/>
          </a:xfrm>
          <a:prstGeom prst="rect">
            <a:avLst/>
          </a:prstGeom>
          <a:noFill/>
        </p:spPr>
        <p:txBody>
          <a:bodyPr wrap="none">
            <a:spAutoFit/>
          </a:bodyPr>
          <a:lstStyle/>
          <a:p>
            <a:pPr>
              <a:defRPr sz="1000" b="1">
                <a:solidFill>
                  <a:srgbClr val="1CBEAA"/>
                </a:solidFill>
              </a:defRPr>
            </a:pPr>
            <a:r>
              <a:t>INSIGHT</a:t>
            </a:r>
          </a:p>
        </p:txBody>
      </p:sp>
      <p:sp>
        <p:nvSpPr>
          <p:cNvPr id="15" name="TextBox 14"/>
          <p:cNvSpPr txBox="1"/>
          <p:nvPr/>
        </p:nvSpPr>
        <p:spPr>
          <a:xfrm>
            <a:off x="1600200" y="5175504"/>
            <a:ext cx="9784080" cy="548640"/>
          </a:xfrm>
          <a:prstGeom prst="rect">
            <a:avLst/>
          </a:prstGeom>
          <a:noFill/>
        </p:spPr>
        <p:txBody>
          <a:bodyPr wrap="none">
            <a:spAutoFit/>
          </a:bodyPr>
          <a:lstStyle/>
          <a:p>
            <a:pPr>
              <a:defRPr sz="1220" b="0">
                <a:solidFill>
                  <a:srgbClr val="F5F8FC"/>
                </a:solidFill>
              </a:defRPr>
            </a:pPr>
            <a:r>
              <a:t>The result confirms that Students, Courses and Departments are correctly connected. Each student can be traced to a course and its department.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7315200" cy="274320"/>
          </a:xfrm>
          <a:prstGeom prst="rect">
            <a:avLst/>
          </a:prstGeom>
          <a:noFill/>
        </p:spPr>
        <p:txBody>
          <a:bodyPr wrap="none">
            <a:spAutoFit/>
          </a:bodyPr>
          <a:lstStyle/>
          <a:p>
            <a:pPr>
              <a:defRPr sz="1000" b="1">
                <a:solidFill>
                  <a:srgbClr val="1CBEAA"/>
                </a:solidFill>
              </a:defRPr>
            </a:pPr>
            <a:r>
              <a:t>SQL QUERY 2</a:t>
            </a:r>
          </a:p>
        </p:txBody>
      </p:sp>
      <p:sp>
        <p:nvSpPr>
          <p:cNvPr id="4" name="TextBox 3"/>
          <p:cNvSpPr txBox="1"/>
          <p:nvPr/>
        </p:nvSpPr>
        <p:spPr>
          <a:xfrm>
            <a:off x="10881360" y="182880"/>
            <a:ext cx="640080" cy="274320"/>
          </a:xfrm>
          <a:prstGeom prst="rect">
            <a:avLst/>
          </a:prstGeom>
          <a:noFill/>
        </p:spPr>
        <p:txBody>
          <a:bodyPr wrap="none">
            <a:spAutoFit/>
          </a:bodyPr>
          <a:lstStyle/>
          <a:p>
            <a:pPr algn="r">
              <a:defRPr sz="1000" b="1">
                <a:solidFill>
                  <a:srgbClr val="A6B5C7"/>
                </a:solidFill>
              </a:defRPr>
            </a:pPr>
            <a:r>
              <a:t>02</a:t>
            </a:r>
          </a:p>
        </p:txBody>
      </p:sp>
      <p:sp>
        <p:nvSpPr>
          <p:cNvPr id="5" name="TextBox 4"/>
          <p:cNvSpPr txBox="1"/>
          <p:nvPr/>
        </p:nvSpPr>
        <p:spPr>
          <a:xfrm>
            <a:off x="594360" y="621792"/>
            <a:ext cx="10972800" cy="502920"/>
          </a:xfrm>
          <a:prstGeom prst="rect">
            <a:avLst/>
          </a:prstGeom>
          <a:noFill/>
        </p:spPr>
        <p:txBody>
          <a:bodyPr wrap="none">
            <a:spAutoFit/>
          </a:bodyPr>
          <a:lstStyle/>
          <a:p>
            <a:pPr>
              <a:defRPr sz="2500" b="1">
                <a:solidFill>
                  <a:srgbClr val="F5F8FC"/>
                </a:solidFill>
              </a:defRPr>
            </a:pPr>
            <a:r>
              <a:t>Number of Students in Each Course</a:t>
            </a:r>
          </a:p>
        </p:txBody>
      </p:sp>
      <p:sp>
        <p:nvSpPr>
          <p:cNvPr id="6" name="TextBox 5"/>
          <p:cNvSpPr txBox="1"/>
          <p:nvPr/>
        </p:nvSpPr>
        <p:spPr>
          <a:xfrm>
            <a:off x="612648" y="1097280"/>
            <a:ext cx="10972800" cy="502920"/>
          </a:xfrm>
          <a:prstGeom prst="rect">
            <a:avLst/>
          </a:prstGeom>
          <a:noFill/>
        </p:spPr>
        <p:txBody>
          <a:bodyPr wrap="none">
            <a:spAutoFit/>
          </a:bodyPr>
          <a:lstStyle/>
          <a:p>
            <a:pPr>
              <a:defRPr sz="1300" b="0">
                <a:solidFill>
                  <a:srgbClr val="A6B5C7"/>
                </a:solidFill>
              </a:defRPr>
            </a:pPr>
            <a:r>
              <a:t>How many students are enrolled in each course, including courses that currently have no students?</a:t>
            </a:r>
          </a:p>
        </p:txBody>
      </p:sp>
      <p:sp>
        <p:nvSpPr>
          <p:cNvPr id="7" name="Rounded Rectangle 6"/>
          <p:cNvSpPr/>
          <p:nvPr/>
        </p:nvSpPr>
        <p:spPr>
          <a:xfrm>
            <a:off x="502920" y="1828800"/>
            <a:ext cx="5303520" cy="3017520"/>
          </a:xfrm>
          <a:prstGeom prst="roundRect">
            <a:avLst/>
          </a:prstGeom>
          <a:solidFill>
            <a:srgbClr val="070F1B"/>
          </a:solidFill>
          <a:ln>
            <a:solidFill>
              <a:srgbClr val="14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39112"/>
            <a:ext cx="4800600" cy="2651760"/>
          </a:xfrm>
          <a:prstGeom prst="rect">
            <a:avLst/>
          </a:prstGeom>
          <a:noFill/>
        </p:spPr>
        <p:txBody>
          <a:bodyPr wrap="none">
            <a:spAutoFit/>
          </a:bodyPr>
          <a:lstStyle/>
          <a:p>
            <a:pPr>
              <a:defRPr sz="1030">
                <a:solidFill>
                  <a:srgbClr val="F5F8FC"/>
                </a:solidFill>
                <a:latin typeface="Consolas"/>
              </a:defRPr>
            </a:pPr>
            <a:r>
              <a:t>SELECT</a:t>
            </a:r>
          </a:p>
          <a:p>
            <a:pPr>
              <a:defRPr sz="1030">
                <a:solidFill>
                  <a:srgbClr val="F5F8FC"/>
                </a:solidFill>
                <a:latin typeface="Consolas"/>
              </a:defRPr>
            </a:pPr>
            <a:r>
              <a:t>    c.course_name,</a:t>
            </a:r>
          </a:p>
          <a:p>
            <a:pPr>
              <a:defRPr sz="1030">
                <a:solidFill>
                  <a:srgbClr val="F5F8FC"/>
                </a:solidFill>
                <a:latin typeface="Consolas"/>
              </a:defRPr>
            </a:pPr>
            <a:r>
              <a:t>    COUNT(s.student_id) AS total_students</a:t>
            </a:r>
          </a:p>
          <a:p>
            <a:pPr>
              <a:defRPr sz="1030">
                <a:solidFill>
                  <a:srgbClr val="F5F8FC"/>
                </a:solidFill>
                <a:latin typeface="Consolas"/>
              </a:defRPr>
            </a:pPr>
            <a:r>
              <a:t>FROM courses c</a:t>
            </a:r>
          </a:p>
          <a:p>
            <a:pPr>
              <a:defRPr sz="1030">
                <a:solidFill>
                  <a:srgbClr val="F5F8FC"/>
                </a:solidFill>
                <a:latin typeface="Consolas"/>
              </a:defRPr>
            </a:pPr>
            <a:r>
              <a:t>LEFT JOIN students s</a:t>
            </a:r>
          </a:p>
          <a:p>
            <a:pPr>
              <a:defRPr sz="1030">
                <a:solidFill>
                  <a:srgbClr val="F5F8FC"/>
                </a:solidFill>
                <a:latin typeface="Consolas"/>
              </a:defRPr>
            </a:pPr>
            <a:r>
              <a:t>    ON c.course_id = s.course_id</a:t>
            </a:r>
          </a:p>
          <a:p>
            <a:pPr>
              <a:defRPr sz="1030">
                <a:solidFill>
                  <a:srgbClr val="F5F8FC"/>
                </a:solidFill>
                <a:latin typeface="Consolas"/>
              </a:defRPr>
            </a:pPr>
            <a:r>
              <a:t>GROUP BY c.course_id, c.course_name</a:t>
            </a:r>
          </a:p>
          <a:p>
            <a:pPr>
              <a:defRPr sz="1030">
                <a:solidFill>
                  <a:srgbClr val="F5F8FC"/>
                </a:solidFill>
                <a:latin typeface="Consolas"/>
              </a:defRPr>
            </a:pPr>
            <a:r>
              <a:t>ORDER BY total_students DESC;</a:t>
            </a:r>
          </a:p>
        </p:txBody>
      </p:sp>
      <p:sp>
        <p:nvSpPr>
          <p:cNvPr id="9" name="Rounded Rectangle 8"/>
          <p:cNvSpPr/>
          <p:nvPr/>
        </p:nvSpPr>
        <p:spPr>
          <a:xfrm>
            <a:off x="5989320" y="1828800"/>
            <a:ext cx="5715000" cy="3017520"/>
          </a:xfrm>
          <a:prstGeom prst="roundRect">
            <a:avLst/>
          </a:prstGeom>
          <a:solidFill>
            <a:srgbClr val="14263E"/>
          </a:solidFill>
          <a:ln>
            <a:solidFill>
              <a:srgbClr val="F5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938528"/>
            <a:ext cx="5120640" cy="274320"/>
          </a:xfrm>
          <a:prstGeom prst="rect">
            <a:avLst/>
          </a:prstGeom>
          <a:noFill/>
        </p:spPr>
        <p:txBody>
          <a:bodyPr wrap="none">
            <a:spAutoFit/>
          </a:bodyPr>
          <a:lstStyle/>
          <a:p>
            <a:pPr>
              <a:defRPr sz="1000" b="1">
                <a:solidFill>
                  <a:srgbClr val="F5B84A"/>
                </a:solidFill>
              </a:defRPr>
            </a:pPr>
            <a:r>
              <a:t>MYSQL WORKBENCH OUTPUT</a:t>
            </a:r>
          </a:p>
        </p:txBody>
      </p:sp>
      <p:pic>
        <p:nvPicPr>
          <p:cNvPr id="11" name="Picture 10" descr="image.jpg"/>
          <p:cNvPicPr>
            <a:picLocks noChangeAspect="1"/>
          </p:cNvPicPr>
          <p:nvPr/>
        </p:nvPicPr>
        <p:blipFill>
          <a:blip r:embed="rId2"/>
          <a:stretch>
            <a:fillRect/>
          </a:stretch>
        </p:blipFill>
        <p:spPr>
          <a:xfrm>
            <a:off x="6217920" y="2304288"/>
            <a:ext cx="5212080" cy="2148840"/>
          </a:xfrm>
          <a:prstGeom prst="rect">
            <a:avLst/>
          </a:prstGeom>
        </p:spPr>
      </p:pic>
      <p:sp>
        <p:nvSpPr>
          <p:cNvPr id="12" name="TextBox 11"/>
          <p:cNvSpPr txBox="1"/>
          <p:nvPr/>
        </p:nvSpPr>
        <p:spPr>
          <a:xfrm>
            <a:off x="6217920" y="4517136"/>
            <a:ext cx="5120640" cy="228600"/>
          </a:xfrm>
          <a:prstGeom prst="rect">
            <a:avLst/>
          </a:prstGeom>
          <a:noFill/>
        </p:spPr>
        <p:txBody>
          <a:bodyPr wrap="none">
            <a:spAutoFit/>
          </a:bodyPr>
          <a:lstStyle/>
          <a:p>
            <a:pPr>
              <a:defRPr sz="950" b="0">
                <a:solidFill>
                  <a:srgbClr val="A6B5C7"/>
                </a:solidFill>
              </a:defRPr>
            </a:pPr>
            <a:r>
              <a:t>Actual MySQL Workbench output</a:t>
            </a:r>
          </a:p>
        </p:txBody>
      </p:sp>
      <p:sp>
        <p:nvSpPr>
          <p:cNvPr id="13" name="Rounded Rectangle 12"/>
          <p:cNvSpPr/>
          <p:nvPr/>
        </p:nvSpPr>
        <p:spPr>
          <a:xfrm>
            <a:off x="502920" y="5074920"/>
            <a:ext cx="11201400" cy="987552"/>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230368"/>
            <a:ext cx="914400" cy="274320"/>
          </a:xfrm>
          <a:prstGeom prst="rect">
            <a:avLst/>
          </a:prstGeom>
          <a:noFill/>
        </p:spPr>
        <p:txBody>
          <a:bodyPr wrap="none">
            <a:spAutoFit/>
          </a:bodyPr>
          <a:lstStyle/>
          <a:p>
            <a:pPr>
              <a:defRPr sz="1000" b="1">
                <a:solidFill>
                  <a:srgbClr val="1CBEAA"/>
                </a:solidFill>
              </a:defRPr>
            </a:pPr>
            <a:r>
              <a:t>INSIGHT</a:t>
            </a:r>
          </a:p>
        </p:txBody>
      </p:sp>
      <p:sp>
        <p:nvSpPr>
          <p:cNvPr id="15" name="TextBox 14"/>
          <p:cNvSpPr txBox="1"/>
          <p:nvPr/>
        </p:nvSpPr>
        <p:spPr>
          <a:xfrm>
            <a:off x="1600200" y="5175504"/>
            <a:ext cx="9784080" cy="548640"/>
          </a:xfrm>
          <a:prstGeom prst="rect">
            <a:avLst/>
          </a:prstGeom>
          <a:noFill/>
        </p:spPr>
        <p:txBody>
          <a:bodyPr wrap="none">
            <a:spAutoFit/>
          </a:bodyPr>
          <a:lstStyle/>
          <a:p>
            <a:pPr>
              <a:defRPr sz="1220" b="0">
                <a:solidFill>
                  <a:srgbClr val="F5F8FC"/>
                </a:solidFill>
              </a:defRPr>
            </a:pPr>
            <a:r>
              <a:t>BCA has the highest count with 141 students, followed by BSc Information Technology (128), BSc Data Science (116) and BSc Computer Science (115). MSc Computer Science and MCA have 0 students.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7315200" cy="274320"/>
          </a:xfrm>
          <a:prstGeom prst="rect">
            <a:avLst/>
          </a:prstGeom>
          <a:noFill/>
        </p:spPr>
        <p:txBody>
          <a:bodyPr wrap="none">
            <a:spAutoFit/>
          </a:bodyPr>
          <a:lstStyle/>
          <a:p>
            <a:pPr>
              <a:defRPr sz="1000" b="1">
                <a:solidFill>
                  <a:srgbClr val="1CBEAA"/>
                </a:solidFill>
              </a:defRPr>
            </a:pPr>
            <a:r>
              <a:t>SQL QUERY 3</a:t>
            </a:r>
          </a:p>
        </p:txBody>
      </p:sp>
      <p:sp>
        <p:nvSpPr>
          <p:cNvPr id="4" name="TextBox 3"/>
          <p:cNvSpPr txBox="1"/>
          <p:nvPr/>
        </p:nvSpPr>
        <p:spPr>
          <a:xfrm>
            <a:off x="10881360" y="182880"/>
            <a:ext cx="640080" cy="274320"/>
          </a:xfrm>
          <a:prstGeom prst="rect">
            <a:avLst/>
          </a:prstGeom>
          <a:noFill/>
        </p:spPr>
        <p:txBody>
          <a:bodyPr wrap="none">
            <a:spAutoFit/>
          </a:bodyPr>
          <a:lstStyle/>
          <a:p>
            <a:pPr algn="r">
              <a:defRPr sz="1000" b="1">
                <a:solidFill>
                  <a:srgbClr val="A6B5C7"/>
                </a:solidFill>
              </a:defRPr>
            </a:pPr>
            <a:r>
              <a:t>03</a:t>
            </a:r>
          </a:p>
        </p:txBody>
      </p:sp>
      <p:sp>
        <p:nvSpPr>
          <p:cNvPr id="5" name="TextBox 4"/>
          <p:cNvSpPr txBox="1"/>
          <p:nvPr/>
        </p:nvSpPr>
        <p:spPr>
          <a:xfrm>
            <a:off x="594360" y="621792"/>
            <a:ext cx="10972800" cy="502920"/>
          </a:xfrm>
          <a:prstGeom prst="rect">
            <a:avLst/>
          </a:prstGeom>
          <a:noFill/>
        </p:spPr>
        <p:txBody>
          <a:bodyPr wrap="none">
            <a:spAutoFit/>
          </a:bodyPr>
          <a:lstStyle/>
          <a:p>
            <a:pPr>
              <a:defRPr sz="2500" b="1">
                <a:solidFill>
                  <a:srgbClr val="F5F8FC"/>
                </a:solidFill>
              </a:defRPr>
            </a:pPr>
            <a:r>
              <a:t>Average Marks of Students</a:t>
            </a:r>
          </a:p>
        </p:txBody>
      </p:sp>
      <p:sp>
        <p:nvSpPr>
          <p:cNvPr id="6" name="TextBox 5"/>
          <p:cNvSpPr txBox="1"/>
          <p:nvPr/>
        </p:nvSpPr>
        <p:spPr>
          <a:xfrm>
            <a:off x="612648" y="1097280"/>
            <a:ext cx="10972800" cy="502920"/>
          </a:xfrm>
          <a:prstGeom prst="rect">
            <a:avLst/>
          </a:prstGeom>
          <a:noFill/>
        </p:spPr>
        <p:txBody>
          <a:bodyPr wrap="none">
            <a:spAutoFit/>
          </a:bodyPr>
          <a:lstStyle/>
          <a:p>
            <a:pPr>
              <a:defRPr sz="1300" b="0">
                <a:solidFill>
                  <a:srgbClr val="A6B5C7"/>
                </a:solidFill>
              </a:defRPr>
            </a:pPr>
            <a:r>
              <a:t>What is the average mark obtained by each student, ranked from highest to lowest?</a:t>
            </a:r>
          </a:p>
        </p:txBody>
      </p:sp>
      <p:sp>
        <p:nvSpPr>
          <p:cNvPr id="7" name="Rounded Rectangle 6"/>
          <p:cNvSpPr/>
          <p:nvPr/>
        </p:nvSpPr>
        <p:spPr>
          <a:xfrm>
            <a:off x="502920" y="1828800"/>
            <a:ext cx="5303520" cy="3017520"/>
          </a:xfrm>
          <a:prstGeom prst="roundRect">
            <a:avLst/>
          </a:prstGeom>
          <a:solidFill>
            <a:srgbClr val="070F1B"/>
          </a:solidFill>
          <a:ln>
            <a:solidFill>
              <a:srgbClr val="14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39112"/>
            <a:ext cx="4800600" cy="2651760"/>
          </a:xfrm>
          <a:prstGeom prst="rect">
            <a:avLst/>
          </a:prstGeom>
          <a:noFill/>
        </p:spPr>
        <p:txBody>
          <a:bodyPr wrap="none">
            <a:spAutoFit/>
          </a:bodyPr>
          <a:lstStyle/>
          <a:p>
            <a:pPr>
              <a:defRPr sz="1030">
                <a:solidFill>
                  <a:srgbClr val="F5F8FC"/>
                </a:solidFill>
                <a:latin typeface="Consolas"/>
              </a:defRPr>
            </a:pPr>
            <a:r>
              <a:t>SELECT</a:t>
            </a:r>
          </a:p>
          <a:p>
            <a:pPr>
              <a:defRPr sz="1030">
                <a:solidFill>
                  <a:srgbClr val="F5F8FC"/>
                </a:solidFill>
                <a:latin typeface="Consolas"/>
              </a:defRPr>
            </a:pPr>
            <a:r>
              <a:t>    s.student_id,</a:t>
            </a:r>
          </a:p>
          <a:p>
            <a:pPr>
              <a:defRPr sz="1030">
                <a:solidFill>
                  <a:srgbClr val="F5F8FC"/>
                </a:solidFill>
                <a:latin typeface="Consolas"/>
              </a:defRPr>
            </a:pPr>
            <a:r>
              <a:t>    s.student_name,</a:t>
            </a:r>
          </a:p>
          <a:p>
            <a:pPr>
              <a:defRPr sz="1030">
                <a:solidFill>
                  <a:srgbClr val="F5F8FC"/>
                </a:solidFill>
                <a:latin typeface="Consolas"/>
              </a:defRPr>
            </a:pPr>
            <a:r>
              <a:t>    ROUND(AVG(e.total_marks), 2) AS average_marks</a:t>
            </a:r>
          </a:p>
          <a:p>
            <a:pPr>
              <a:defRPr sz="1030">
                <a:solidFill>
                  <a:srgbClr val="F5F8FC"/>
                </a:solidFill>
                <a:latin typeface="Consolas"/>
              </a:defRPr>
            </a:pPr>
            <a:r>
              <a:t>FROM students s</a:t>
            </a:r>
          </a:p>
          <a:p>
            <a:pPr>
              <a:defRPr sz="1030">
                <a:solidFill>
                  <a:srgbClr val="F5F8FC"/>
                </a:solidFill>
                <a:latin typeface="Consolas"/>
              </a:defRPr>
            </a:pPr>
            <a:r>
              <a:t>INNER JOIN enrollments e</a:t>
            </a:r>
          </a:p>
          <a:p>
            <a:pPr>
              <a:defRPr sz="1030">
                <a:solidFill>
                  <a:srgbClr val="F5F8FC"/>
                </a:solidFill>
                <a:latin typeface="Consolas"/>
              </a:defRPr>
            </a:pPr>
            <a:r>
              <a:t>    ON s.student_id = e.student_id</a:t>
            </a:r>
          </a:p>
          <a:p>
            <a:pPr>
              <a:defRPr sz="1030">
                <a:solidFill>
                  <a:srgbClr val="F5F8FC"/>
                </a:solidFill>
                <a:latin typeface="Consolas"/>
              </a:defRPr>
            </a:pPr>
            <a:r>
              <a:t>GROUP BY s.student_id, s.student_name</a:t>
            </a:r>
          </a:p>
          <a:p>
            <a:pPr>
              <a:defRPr sz="1030">
                <a:solidFill>
                  <a:srgbClr val="F5F8FC"/>
                </a:solidFill>
                <a:latin typeface="Consolas"/>
              </a:defRPr>
            </a:pPr>
            <a:r>
              <a:t>ORDER BY average_marks DESC;</a:t>
            </a:r>
          </a:p>
        </p:txBody>
      </p:sp>
      <p:sp>
        <p:nvSpPr>
          <p:cNvPr id="9" name="Rounded Rectangle 8"/>
          <p:cNvSpPr/>
          <p:nvPr/>
        </p:nvSpPr>
        <p:spPr>
          <a:xfrm>
            <a:off x="5989320" y="1828800"/>
            <a:ext cx="5715000" cy="3017520"/>
          </a:xfrm>
          <a:prstGeom prst="roundRect">
            <a:avLst/>
          </a:prstGeom>
          <a:solidFill>
            <a:srgbClr val="14263E"/>
          </a:solidFill>
          <a:ln>
            <a:solidFill>
              <a:srgbClr val="F5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938528"/>
            <a:ext cx="5120640" cy="274320"/>
          </a:xfrm>
          <a:prstGeom prst="rect">
            <a:avLst/>
          </a:prstGeom>
          <a:noFill/>
        </p:spPr>
        <p:txBody>
          <a:bodyPr wrap="none">
            <a:spAutoFit/>
          </a:bodyPr>
          <a:lstStyle/>
          <a:p>
            <a:pPr>
              <a:defRPr sz="1000" b="1">
                <a:solidFill>
                  <a:srgbClr val="F5B84A"/>
                </a:solidFill>
              </a:defRPr>
            </a:pPr>
            <a:r>
              <a:t>MYSQL WORKBENCH OUTPUT</a:t>
            </a:r>
          </a:p>
        </p:txBody>
      </p:sp>
      <p:pic>
        <p:nvPicPr>
          <p:cNvPr id="11" name="Picture 10" descr="image.jpg"/>
          <p:cNvPicPr>
            <a:picLocks noChangeAspect="1"/>
          </p:cNvPicPr>
          <p:nvPr/>
        </p:nvPicPr>
        <p:blipFill>
          <a:blip r:embed="rId2"/>
          <a:stretch>
            <a:fillRect/>
          </a:stretch>
        </p:blipFill>
        <p:spPr>
          <a:xfrm>
            <a:off x="6217920" y="2304288"/>
            <a:ext cx="5212080" cy="2148840"/>
          </a:xfrm>
          <a:prstGeom prst="rect">
            <a:avLst/>
          </a:prstGeom>
        </p:spPr>
      </p:pic>
      <p:sp>
        <p:nvSpPr>
          <p:cNvPr id="12" name="TextBox 11"/>
          <p:cNvSpPr txBox="1"/>
          <p:nvPr/>
        </p:nvSpPr>
        <p:spPr>
          <a:xfrm>
            <a:off x="6217920" y="4517136"/>
            <a:ext cx="5120640" cy="228600"/>
          </a:xfrm>
          <a:prstGeom prst="rect">
            <a:avLst/>
          </a:prstGeom>
          <a:noFill/>
        </p:spPr>
        <p:txBody>
          <a:bodyPr wrap="none">
            <a:spAutoFit/>
          </a:bodyPr>
          <a:lstStyle/>
          <a:p>
            <a:pPr>
              <a:defRPr sz="950" b="0">
                <a:solidFill>
                  <a:srgbClr val="A6B5C7"/>
                </a:solidFill>
              </a:defRPr>
            </a:pPr>
            <a:r>
              <a:t>Actual MySQL Workbench output</a:t>
            </a:r>
          </a:p>
        </p:txBody>
      </p:sp>
      <p:sp>
        <p:nvSpPr>
          <p:cNvPr id="13" name="Rounded Rectangle 12"/>
          <p:cNvSpPr/>
          <p:nvPr/>
        </p:nvSpPr>
        <p:spPr>
          <a:xfrm>
            <a:off x="502920" y="5074920"/>
            <a:ext cx="11201400" cy="987552"/>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230368"/>
            <a:ext cx="914400" cy="274320"/>
          </a:xfrm>
          <a:prstGeom prst="rect">
            <a:avLst/>
          </a:prstGeom>
          <a:noFill/>
        </p:spPr>
        <p:txBody>
          <a:bodyPr wrap="none">
            <a:spAutoFit/>
          </a:bodyPr>
          <a:lstStyle/>
          <a:p>
            <a:pPr>
              <a:defRPr sz="1000" b="1">
                <a:solidFill>
                  <a:srgbClr val="1CBEAA"/>
                </a:solidFill>
              </a:defRPr>
            </a:pPr>
            <a:r>
              <a:t>INSIGHT</a:t>
            </a:r>
          </a:p>
        </p:txBody>
      </p:sp>
      <p:sp>
        <p:nvSpPr>
          <p:cNvPr id="15" name="TextBox 14"/>
          <p:cNvSpPr txBox="1"/>
          <p:nvPr/>
        </p:nvSpPr>
        <p:spPr>
          <a:xfrm>
            <a:off x="1600200" y="5175504"/>
            <a:ext cx="9784080" cy="548640"/>
          </a:xfrm>
          <a:prstGeom prst="rect">
            <a:avLst/>
          </a:prstGeom>
          <a:noFill/>
        </p:spPr>
        <p:txBody>
          <a:bodyPr wrap="none">
            <a:spAutoFit/>
          </a:bodyPr>
          <a:lstStyle/>
          <a:p>
            <a:pPr>
              <a:defRPr sz="1220" b="0">
                <a:solidFill>
                  <a:srgbClr val="F5F8FC"/>
                </a:solidFill>
              </a:defRPr>
            </a:pPr>
            <a:r>
              <a:t>The output ranks students by academic performance. The highest visible average is 91.50 for Vivek Shinde, followed by Rahul Jadhav at 91.33.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7315200" cy="274320"/>
          </a:xfrm>
          <a:prstGeom prst="rect">
            <a:avLst/>
          </a:prstGeom>
          <a:noFill/>
        </p:spPr>
        <p:txBody>
          <a:bodyPr wrap="none">
            <a:spAutoFit/>
          </a:bodyPr>
          <a:lstStyle/>
          <a:p>
            <a:pPr>
              <a:defRPr sz="1000" b="1">
                <a:solidFill>
                  <a:srgbClr val="1CBEAA"/>
                </a:solidFill>
              </a:defRPr>
            </a:pPr>
            <a:r>
              <a:t>SQL QUERY 4</a:t>
            </a:r>
          </a:p>
        </p:txBody>
      </p:sp>
      <p:sp>
        <p:nvSpPr>
          <p:cNvPr id="4" name="TextBox 3"/>
          <p:cNvSpPr txBox="1"/>
          <p:nvPr/>
        </p:nvSpPr>
        <p:spPr>
          <a:xfrm>
            <a:off x="10881360" y="182880"/>
            <a:ext cx="640080" cy="274320"/>
          </a:xfrm>
          <a:prstGeom prst="rect">
            <a:avLst/>
          </a:prstGeom>
          <a:noFill/>
        </p:spPr>
        <p:txBody>
          <a:bodyPr wrap="none">
            <a:spAutoFit/>
          </a:bodyPr>
          <a:lstStyle/>
          <a:p>
            <a:pPr algn="r">
              <a:defRPr sz="1000" b="1">
                <a:solidFill>
                  <a:srgbClr val="A6B5C7"/>
                </a:solidFill>
              </a:defRPr>
            </a:pPr>
            <a:r>
              <a:t>04</a:t>
            </a:r>
          </a:p>
        </p:txBody>
      </p:sp>
      <p:sp>
        <p:nvSpPr>
          <p:cNvPr id="5" name="TextBox 4"/>
          <p:cNvSpPr txBox="1"/>
          <p:nvPr/>
        </p:nvSpPr>
        <p:spPr>
          <a:xfrm>
            <a:off x="594360" y="621792"/>
            <a:ext cx="10972800" cy="502920"/>
          </a:xfrm>
          <a:prstGeom prst="rect">
            <a:avLst/>
          </a:prstGeom>
          <a:noFill/>
        </p:spPr>
        <p:txBody>
          <a:bodyPr wrap="none">
            <a:spAutoFit/>
          </a:bodyPr>
          <a:lstStyle/>
          <a:p>
            <a:pPr>
              <a:defRPr sz="2500" b="1">
                <a:solidFill>
                  <a:srgbClr val="F5F8FC"/>
                </a:solidFill>
              </a:defRPr>
            </a:pPr>
            <a:r>
              <a:t>Top 10 Students by Average Marks</a:t>
            </a:r>
          </a:p>
        </p:txBody>
      </p:sp>
      <p:sp>
        <p:nvSpPr>
          <p:cNvPr id="6" name="TextBox 5"/>
          <p:cNvSpPr txBox="1"/>
          <p:nvPr/>
        </p:nvSpPr>
        <p:spPr>
          <a:xfrm>
            <a:off x="612648" y="1097280"/>
            <a:ext cx="10972800" cy="502920"/>
          </a:xfrm>
          <a:prstGeom prst="rect">
            <a:avLst/>
          </a:prstGeom>
          <a:noFill/>
        </p:spPr>
        <p:txBody>
          <a:bodyPr wrap="none">
            <a:spAutoFit/>
          </a:bodyPr>
          <a:lstStyle/>
          <a:p>
            <a:pPr>
              <a:defRPr sz="1300" b="0">
                <a:solidFill>
                  <a:srgbClr val="A6B5C7"/>
                </a:solidFill>
              </a:defRPr>
            </a:pPr>
            <a:r>
              <a:t>Who are the top 10 students based on their average marks?</a:t>
            </a:r>
          </a:p>
        </p:txBody>
      </p:sp>
      <p:sp>
        <p:nvSpPr>
          <p:cNvPr id="7" name="Rounded Rectangle 6"/>
          <p:cNvSpPr/>
          <p:nvPr/>
        </p:nvSpPr>
        <p:spPr>
          <a:xfrm>
            <a:off x="502920" y="1828800"/>
            <a:ext cx="5303520" cy="3017520"/>
          </a:xfrm>
          <a:prstGeom prst="roundRect">
            <a:avLst/>
          </a:prstGeom>
          <a:solidFill>
            <a:srgbClr val="070F1B"/>
          </a:solidFill>
          <a:ln>
            <a:solidFill>
              <a:srgbClr val="14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39112"/>
            <a:ext cx="4800600" cy="2651760"/>
          </a:xfrm>
          <a:prstGeom prst="rect">
            <a:avLst/>
          </a:prstGeom>
          <a:noFill/>
        </p:spPr>
        <p:txBody>
          <a:bodyPr wrap="none">
            <a:spAutoFit/>
          </a:bodyPr>
          <a:lstStyle/>
          <a:p>
            <a:pPr>
              <a:defRPr sz="1030">
                <a:solidFill>
                  <a:srgbClr val="F5F8FC"/>
                </a:solidFill>
                <a:latin typeface="Consolas"/>
              </a:defRPr>
            </a:pPr>
            <a:r>
              <a:t>SELECT</a:t>
            </a:r>
          </a:p>
          <a:p>
            <a:pPr>
              <a:defRPr sz="1030">
                <a:solidFill>
                  <a:srgbClr val="F5F8FC"/>
                </a:solidFill>
                <a:latin typeface="Consolas"/>
              </a:defRPr>
            </a:pPr>
            <a:r>
              <a:t>    s.student_id,</a:t>
            </a:r>
          </a:p>
          <a:p>
            <a:pPr>
              <a:defRPr sz="1030">
                <a:solidFill>
                  <a:srgbClr val="F5F8FC"/>
                </a:solidFill>
                <a:latin typeface="Consolas"/>
              </a:defRPr>
            </a:pPr>
            <a:r>
              <a:t>    s.student_name,</a:t>
            </a:r>
          </a:p>
          <a:p>
            <a:pPr>
              <a:defRPr sz="1030">
                <a:solidFill>
                  <a:srgbClr val="F5F8FC"/>
                </a:solidFill>
                <a:latin typeface="Consolas"/>
              </a:defRPr>
            </a:pPr>
            <a:r>
              <a:t>    ROUND(AVG(e.total_marks), 2) AS average_marks</a:t>
            </a:r>
          </a:p>
          <a:p>
            <a:pPr>
              <a:defRPr sz="1030">
                <a:solidFill>
                  <a:srgbClr val="F5F8FC"/>
                </a:solidFill>
                <a:latin typeface="Consolas"/>
              </a:defRPr>
            </a:pPr>
            <a:r>
              <a:t>FROM students s</a:t>
            </a:r>
          </a:p>
          <a:p>
            <a:pPr>
              <a:defRPr sz="1030">
                <a:solidFill>
                  <a:srgbClr val="F5F8FC"/>
                </a:solidFill>
                <a:latin typeface="Consolas"/>
              </a:defRPr>
            </a:pPr>
            <a:r>
              <a:t>INNER JOIN enrollments e</a:t>
            </a:r>
          </a:p>
          <a:p>
            <a:pPr>
              <a:defRPr sz="1030">
                <a:solidFill>
                  <a:srgbClr val="F5F8FC"/>
                </a:solidFill>
                <a:latin typeface="Consolas"/>
              </a:defRPr>
            </a:pPr>
            <a:r>
              <a:t>    ON s.student_id = e.student_id</a:t>
            </a:r>
          </a:p>
          <a:p>
            <a:pPr>
              <a:defRPr sz="1030">
                <a:solidFill>
                  <a:srgbClr val="F5F8FC"/>
                </a:solidFill>
                <a:latin typeface="Consolas"/>
              </a:defRPr>
            </a:pPr>
            <a:r>
              <a:t>GROUP BY s.student_id, s.student_name</a:t>
            </a:r>
          </a:p>
          <a:p>
            <a:pPr>
              <a:defRPr sz="1030">
                <a:solidFill>
                  <a:srgbClr val="F5F8FC"/>
                </a:solidFill>
                <a:latin typeface="Consolas"/>
              </a:defRPr>
            </a:pPr>
            <a:r>
              <a:t>ORDER BY average_marks DESC</a:t>
            </a:r>
          </a:p>
          <a:p>
            <a:pPr>
              <a:defRPr sz="1030">
                <a:solidFill>
                  <a:srgbClr val="F5F8FC"/>
                </a:solidFill>
                <a:latin typeface="Consolas"/>
              </a:defRPr>
            </a:pPr>
            <a:r>
              <a:t>LIMIT 10;</a:t>
            </a:r>
          </a:p>
        </p:txBody>
      </p:sp>
      <p:sp>
        <p:nvSpPr>
          <p:cNvPr id="9" name="Rounded Rectangle 8"/>
          <p:cNvSpPr/>
          <p:nvPr/>
        </p:nvSpPr>
        <p:spPr>
          <a:xfrm>
            <a:off x="5989320" y="1828800"/>
            <a:ext cx="5715000" cy="3017520"/>
          </a:xfrm>
          <a:prstGeom prst="roundRect">
            <a:avLst/>
          </a:prstGeom>
          <a:solidFill>
            <a:srgbClr val="14263E"/>
          </a:solidFill>
          <a:ln>
            <a:solidFill>
              <a:srgbClr val="F5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938528"/>
            <a:ext cx="5120640" cy="274320"/>
          </a:xfrm>
          <a:prstGeom prst="rect">
            <a:avLst/>
          </a:prstGeom>
          <a:noFill/>
        </p:spPr>
        <p:txBody>
          <a:bodyPr wrap="none">
            <a:spAutoFit/>
          </a:bodyPr>
          <a:lstStyle/>
          <a:p>
            <a:pPr>
              <a:defRPr sz="1000" b="1">
                <a:solidFill>
                  <a:srgbClr val="F5B84A"/>
                </a:solidFill>
              </a:defRPr>
            </a:pPr>
            <a:r>
              <a:t>MYSQL WORKBENCH OUTPUT</a:t>
            </a:r>
          </a:p>
        </p:txBody>
      </p:sp>
      <p:pic>
        <p:nvPicPr>
          <p:cNvPr id="11" name="Picture 10" descr="image.jpg"/>
          <p:cNvPicPr>
            <a:picLocks noChangeAspect="1"/>
          </p:cNvPicPr>
          <p:nvPr/>
        </p:nvPicPr>
        <p:blipFill>
          <a:blip r:embed="rId2"/>
          <a:stretch>
            <a:fillRect/>
          </a:stretch>
        </p:blipFill>
        <p:spPr>
          <a:xfrm>
            <a:off x="6217920" y="2304288"/>
            <a:ext cx="5212080" cy="2148840"/>
          </a:xfrm>
          <a:prstGeom prst="rect">
            <a:avLst/>
          </a:prstGeom>
        </p:spPr>
      </p:pic>
      <p:sp>
        <p:nvSpPr>
          <p:cNvPr id="12" name="TextBox 11"/>
          <p:cNvSpPr txBox="1"/>
          <p:nvPr/>
        </p:nvSpPr>
        <p:spPr>
          <a:xfrm>
            <a:off x="6217920" y="4517136"/>
            <a:ext cx="5120640" cy="228600"/>
          </a:xfrm>
          <a:prstGeom prst="rect">
            <a:avLst/>
          </a:prstGeom>
          <a:noFill/>
        </p:spPr>
        <p:txBody>
          <a:bodyPr wrap="none">
            <a:spAutoFit/>
          </a:bodyPr>
          <a:lstStyle/>
          <a:p>
            <a:pPr>
              <a:defRPr sz="950" b="0">
                <a:solidFill>
                  <a:srgbClr val="A6B5C7"/>
                </a:solidFill>
              </a:defRPr>
            </a:pPr>
            <a:r>
              <a:t>Actual MySQL Workbench output</a:t>
            </a:r>
          </a:p>
        </p:txBody>
      </p:sp>
      <p:sp>
        <p:nvSpPr>
          <p:cNvPr id="13" name="Rounded Rectangle 12"/>
          <p:cNvSpPr/>
          <p:nvPr/>
        </p:nvSpPr>
        <p:spPr>
          <a:xfrm>
            <a:off x="502920" y="5074920"/>
            <a:ext cx="11201400" cy="987552"/>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230368"/>
            <a:ext cx="914400" cy="274320"/>
          </a:xfrm>
          <a:prstGeom prst="rect">
            <a:avLst/>
          </a:prstGeom>
          <a:noFill/>
        </p:spPr>
        <p:txBody>
          <a:bodyPr wrap="none">
            <a:spAutoFit/>
          </a:bodyPr>
          <a:lstStyle/>
          <a:p>
            <a:pPr>
              <a:defRPr sz="1000" b="1">
                <a:solidFill>
                  <a:srgbClr val="1CBEAA"/>
                </a:solidFill>
              </a:defRPr>
            </a:pPr>
            <a:r>
              <a:t>INSIGHT</a:t>
            </a:r>
          </a:p>
        </p:txBody>
      </p:sp>
      <p:sp>
        <p:nvSpPr>
          <p:cNvPr id="15" name="TextBox 14"/>
          <p:cNvSpPr txBox="1"/>
          <p:nvPr/>
        </p:nvSpPr>
        <p:spPr>
          <a:xfrm>
            <a:off x="1600200" y="5175504"/>
            <a:ext cx="9784080" cy="548640"/>
          </a:xfrm>
          <a:prstGeom prst="rect">
            <a:avLst/>
          </a:prstGeom>
          <a:noFill/>
        </p:spPr>
        <p:txBody>
          <a:bodyPr wrap="none">
            <a:spAutoFit/>
          </a:bodyPr>
          <a:lstStyle/>
          <a:p>
            <a:pPr>
              <a:defRPr sz="1220" b="0">
                <a:solidFill>
                  <a:srgbClr val="F5F8FC"/>
                </a:solidFill>
              </a:defRPr>
            </a:pPr>
            <a:r>
              <a:t>The query identifies the top-performing students by sorting average marks in descending order and limiting the result to the top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7315200" cy="274320"/>
          </a:xfrm>
          <a:prstGeom prst="rect">
            <a:avLst/>
          </a:prstGeom>
          <a:noFill/>
        </p:spPr>
        <p:txBody>
          <a:bodyPr wrap="none">
            <a:spAutoFit/>
          </a:bodyPr>
          <a:lstStyle/>
          <a:p>
            <a:pPr>
              <a:defRPr sz="1000" b="1">
                <a:solidFill>
                  <a:srgbClr val="1CBEAA"/>
                </a:solidFill>
              </a:defRPr>
            </a:pPr>
            <a:r>
              <a:t>SQL QUERY 5</a:t>
            </a:r>
          </a:p>
        </p:txBody>
      </p:sp>
      <p:sp>
        <p:nvSpPr>
          <p:cNvPr id="4" name="TextBox 3"/>
          <p:cNvSpPr txBox="1"/>
          <p:nvPr/>
        </p:nvSpPr>
        <p:spPr>
          <a:xfrm>
            <a:off x="10881360" y="182880"/>
            <a:ext cx="640080" cy="274320"/>
          </a:xfrm>
          <a:prstGeom prst="rect">
            <a:avLst/>
          </a:prstGeom>
          <a:noFill/>
        </p:spPr>
        <p:txBody>
          <a:bodyPr wrap="none">
            <a:spAutoFit/>
          </a:bodyPr>
          <a:lstStyle/>
          <a:p>
            <a:pPr algn="r">
              <a:defRPr sz="1000" b="1">
                <a:solidFill>
                  <a:srgbClr val="A6B5C7"/>
                </a:solidFill>
              </a:defRPr>
            </a:pPr>
            <a:r>
              <a:t>05</a:t>
            </a:r>
          </a:p>
        </p:txBody>
      </p:sp>
      <p:sp>
        <p:nvSpPr>
          <p:cNvPr id="5" name="TextBox 4"/>
          <p:cNvSpPr txBox="1"/>
          <p:nvPr/>
        </p:nvSpPr>
        <p:spPr>
          <a:xfrm>
            <a:off x="594360" y="621792"/>
            <a:ext cx="10972800" cy="502920"/>
          </a:xfrm>
          <a:prstGeom prst="rect">
            <a:avLst/>
          </a:prstGeom>
          <a:noFill/>
        </p:spPr>
        <p:txBody>
          <a:bodyPr wrap="none">
            <a:spAutoFit/>
          </a:bodyPr>
          <a:lstStyle/>
          <a:p>
            <a:pPr>
              <a:defRPr sz="2500" b="1">
                <a:solidFill>
                  <a:srgbClr val="F5F8FC"/>
                </a:solidFill>
              </a:defRPr>
            </a:pPr>
            <a:r>
              <a:t>Highest Scoring Student in Each Course</a:t>
            </a:r>
          </a:p>
        </p:txBody>
      </p:sp>
      <p:sp>
        <p:nvSpPr>
          <p:cNvPr id="6" name="TextBox 5"/>
          <p:cNvSpPr txBox="1"/>
          <p:nvPr/>
        </p:nvSpPr>
        <p:spPr>
          <a:xfrm>
            <a:off x="612648" y="1097280"/>
            <a:ext cx="10972800" cy="502920"/>
          </a:xfrm>
          <a:prstGeom prst="rect">
            <a:avLst/>
          </a:prstGeom>
          <a:noFill/>
        </p:spPr>
        <p:txBody>
          <a:bodyPr wrap="none">
            <a:spAutoFit/>
          </a:bodyPr>
          <a:lstStyle/>
          <a:p>
            <a:pPr>
              <a:defRPr sz="1300" b="0">
                <a:solidFill>
                  <a:srgbClr val="A6B5C7"/>
                </a:solidFill>
              </a:defRPr>
            </a:pPr>
            <a:r>
              <a:t>Who is the highest-scoring student in each course?</a:t>
            </a:r>
          </a:p>
        </p:txBody>
      </p:sp>
      <p:sp>
        <p:nvSpPr>
          <p:cNvPr id="7" name="Rounded Rectangle 6"/>
          <p:cNvSpPr/>
          <p:nvPr/>
        </p:nvSpPr>
        <p:spPr>
          <a:xfrm>
            <a:off x="502920" y="1828800"/>
            <a:ext cx="5303520" cy="3017520"/>
          </a:xfrm>
          <a:prstGeom prst="roundRect">
            <a:avLst/>
          </a:prstGeom>
          <a:solidFill>
            <a:srgbClr val="070F1B"/>
          </a:solidFill>
          <a:ln>
            <a:solidFill>
              <a:srgbClr val="142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93392"/>
            <a:ext cx="4800600" cy="2697480"/>
          </a:xfrm>
          <a:prstGeom prst="rect">
            <a:avLst/>
          </a:prstGeom>
          <a:noFill/>
        </p:spPr>
        <p:txBody>
          <a:bodyPr wrap="none">
            <a:spAutoFit/>
          </a:bodyPr>
          <a:lstStyle/>
          <a:p>
            <a:pPr>
              <a:defRPr sz="950">
                <a:solidFill>
                  <a:srgbClr val="F5F8FC"/>
                </a:solidFill>
                <a:latin typeface="Consolas"/>
              </a:defRPr>
            </a:pPr>
            <a:r>
              <a:t>SELECT</a:t>
            </a:r>
          </a:p>
          <a:p>
            <a:pPr>
              <a:defRPr sz="950">
                <a:solidFill>
                  <a:srgbClr val="F5F8FC"/>
                </a:solidFill>
                <a:latin typeface="Consolas"/>
              </a:defRPr>
            </a:pPr>
            <a:r>
              <a:t>    c.course_name,</a:t>
            </a:r>
          </a:p>
          <a:p>
            <a:pPr>
              <a:defRPr sz="950">
                <a:solidFill>
                  <a:srgbClr val="F5F8FC"/>
                </a:solidFill>
                <a:latin typeface="Consolas"/>
              </a:defRPr>
            </a:pPr>
            <a:r>
              <a:t>    s.student_name,</a:t>
            </a:r>
          </a:p>
          <a:p>
            <a:pPr>
              <a:defRPr sz="950">
                <a:solidFill>
                  <a:srgbClr val="F5F8FC"/>
                </a:solidFill>
                <a:latin typeface="Consolas"/>
              </a:defRPr>
            </a:pPr>
            <a:r>
              <a:t>    e.total_marks</a:t>
            </a:r>
          </a:p>
          <a:p>
            <a:pPr>
              <a:defRPr sz="950">
                <a:solidFill>
                  <a:srgbClr val="F5F8FC"/>
                </a:solidFill>
                <a:latin typeface="Consolas"/>
              </a:defRPr>
            </a:pPr>
            <a:r>
              <a:t>FROM enrollments e</a:t>
            </a:r>
          </a:p>
          <a:p>
            <a:pPr>
              <a:defRPr sz="950">
                <a:solidFill>
                  <a:srgbClr val="F5F8FC"/>
                </a:solidFill>
                <a:latin typeface="Consolas"/>
              </a:defRPr>
            </a:pPr>
            <a:r>
              <a:t>INNER JOIN students s</a:t>
            </a:r>
          </a:p>
          <a:p>
            <a:pPr>
              <a:defRPr sz="950">
                <a:solidFill>
                  <a:srgbClr val="F5F8FC"/>
                </a:solidFill>
                <a:latin typeface="Consolas"/>
              </a:defRPr>
            </a:pPr>
            <a:r>
              <a:t>    ON e.student_id = s.student_id</a:t>
            </a:r>
          </a:p>
          <a:p>
            <a:pPr>
              <a:defRPr sz="950">
                <a:solidFill>
                  <a:srgbClr val="F5F8FC"/>
                </a:solidFill>
                <a:latin typeface="Consolas"/>
              </a:defRPr>
            </a:pPr>
            <a:r>
              <a:t>INNER JOIN courses c</a:t>
            </a:r>
          </a:p>
          <a:p>
            <a:pPr>
              <a:defRPr sz="950">
                <a:solidFill>
                  <a:srgbClr val="F5F8FC"/>
                </a:solidFill>
                <a:latin typeface="Consolas"/>
              </a:defRPr>
            </a:pPr>
            <a:r>
              <a:t>    ON e.course_id = c.course_id</a:t>
            </a:r>
          </a:p>
          <a:p>
            <a:pPr>
              <a:defRPr sz="950">
                <a:solidFill>
                  <a:srgbClr val="F5F8FC"/>
                </a:solidFill>
                <a:latin typeface="Consolas"/>
              </a:defRPr>
            </a:pPr>
            <a:r>
              <a:t>WHERE e.total_marks = (</a:t>
            </a:r>
          </a:p>
          <a:p>
            <a:pPr>
              <a:defRPr sz="950">
                <a:solidFill>
                  <a:srgbClr val="F5F8FC"/>
                </a:solidFill>
                <a:latin typeface="Consolas"/>
              </a:defRPr>
            </a:pPr>
            <a:r>
              <a:t>    SELECT MAX(e2.total_marks)</a:t>
            </a:r>
          </a:p>
          <a:p>
            <a:pPr>
              <a:defRPr sz="950">
                <a:solidFill>
                  <a:srgbClr val="F5F8FC"/>
                </a:solidFill>
                <a:latin typeface="Consolas"/>
              </a:defRPr>
            </a:pPr>
            <a:r>
              <a:t>    FROM enrollments e2</a:t>
            </a:r>
          </a:p>
          <a:p>
            <a:pPr>
              <a:defRPr sz="950">
                <a:solidFill>
                  <a:srgbClr val="F5F8FC"/>
                </a:solidFill>
                <a:latin typeface="Consolas"/>
              </a:defRPr>
            </a:pPr>
            <a:r>
              <a:t>    WHERE e2.course_id = e.course_id</a:t>
            </a:r>
          </a:p>
          <a:p>
            <a:pPr>
              <a:defRPr sz="950">
                <a:solidFill>
                  <a:srgbClr val="F5F8FC"/>
                </a:solidFill>
                <a:latin typeface="Consolas"/>
              </a:defRPr>
            </a:pPr>
            <a:r>
              <a:t>)</a:t>
            </a:r>
          </a:p>
          <a:p>
            <a:pPr>
              <a:defRPr sz="950">
                <a:solidFill>
                  <a:srgbClr val="F5F8FC"/>
                </a:solidFill>
                <a:latin typeface="Consolas"/>
              </a:defRPr>
            </a:pPr>
            <a:r>
              <a:t>ORDER BY e.total_marks DESC;</a:t>
            </a:r>
          </a:p>
        </p:txBody>
      </p:sp>
      <p:sp>
        <p:nvSpPr>
          <p:cNvPr id="9" name="Rounded Rectangle 8"/>
          <p:cNvSpPr/>
          <p:nvPr/>
        </p:nvSpPr>
        <p:spPr>
          <a:xfrm>
            <a:off x="5989320" y="1828800"/>
            <a:ext cx="5715000" cy="3017520"/>
          </a:xfrm>
          <a:prstGeom prst="roundRect">
            <a:avLst/>
          </a:prstGeom>
          <a:solidFill>
            <a:srgbClr val="14263E"/>
          </a:solidFill>
          <a:ln>
            <a:solidFill>
              <a:srgbClr val="F5B8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938528"/>
            <a:ext cx="5120640" cy="274320"/>
          </a:xfrm>
          <a:prstGeom prst="rect">
            <a:avLst/>
          </a:prstGeom>
          <a:noFill/>
        </p:spPr>
        <p:txBody>
          <a:bodyPr wrap="none">
            <a:spAutoFit/>
          </a:bodyPr>
          <a:lstStyle/>
          <a:p>
            <a:pPr>
              <a:defRPr sz="1000" b="1">
                <a:solidFill>
                  <a:srgbClr val="F5B84A"/>
                </a:solidFill>
              </a:defRPr>
            </a:pPr>
            <a:r>
              <a:t>MY OUTPUT — MYSQL WORKBENCH</a:t>
            </a:r>
          </a:p>
        </p:txBody>
      </p:sp>
      <p:pic>
        <p:nvPicPr>
          <p:cNvPr id="11" name="Picture 10" descr="1000193714.jpg"/>
          <p:cNvPicPr>
            <a:picLocks noChangeAspect="1"/>
          </p:cNvPicPr>
          <p:nvPr/>
        </p:nvPicPr>
        <p:blipFill>
          <a:blip r:embed="rId3"/>
          <a:stretch>
            <a:fillRect/>
          </a:stretch>
        </p:blipFill>
        <p:spPr>
          <a:xfrm>
            <a:off x="6172200" y="2267712"/>
            <a:ext cx="5303520" cy="2267712"/>
          </a:xfrm>
          <a:prstGeom prst="rect">
            <a:avLst/>
          </a:prstGeom>
        </p:spPr>
      </p:pic>
      <p:sp>
        <p:nvSpPr>
          <p:cNvPr id="12" name="TextBox 11"/>
          <p:cNvSpPr txBox="1"/>
          <p:nvPr/>
        </p:nvSpPr>
        <p:spPr>
          <a:xfrm>
            <a:off x="6217920" y="4562856"/>
            <a:ext cx="5120640" cy="201168"/>
          </a:xfrm>
          <a:prstGeom prst="rect">
            <a:avLst/>
          </a:prstGeom>
          <a:noFill/>
        </p:spPr>
        <p:txBody>
          <a:bodyPr wrap="none">
            <a:spAutoFit/>
          </a:bodyPr>
          <a:lstStyle/>
          <a:p>
            <a:pPr>
              <a:defRPr sz="950" b="0">
                <a:solidFill>
                  <a:srgbClr val="A6B5C7"/>
                </a:solidFill>
              </a:defRPr>
            </a:pPr>
            <a:r>
              <a:t>Highest mark from each course; ties are included.</a:t>
            </a:r>
          </a:p>
        </p:txBody>
      </p:sp>
      <p:sp>
        <p:nvSpPr>
          <p:cNvPr id="13" name="Rounded Rectangle 12"/>
          <p:cNvSpPr/>
          <p:nvPr/>
        </p:nvSpPr>
        <p:spPr>
          <a:xfrm>
            <a:off x="502920" y="5074920"/>
            <a:ext cx="11201400" cy="987552"/>
          </a:xfrm>
          <a:prstGeom prst="roundRect">
            <a:avLst/>
          </a:prstGeom>
          <a:solidFill>
            <a:srgbClr val="14263E"/>
          </a:solidFill>
          <a:ln>
            <a:solidFill>
              <a:srgbClr val="1CBE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230368"/>
            <a:ext cx="914400" cy="274320"/>
          </a:xfrm>
          <a:prstGeom prst="rect">
            <a:avLst/>
          </a:prstGeom>
          <a:noFill/>
        </p:spPr>
        <p:txBody>
          <a:bodyPr wrap="none">
            <a:spAutoFit/>
          </a:bodyPr>
          <a:lstStyle/>
          <a:p>
            <a:pPr>
              <a:defRPr sz="1000" b="1">
                <a:solidFill>
                  <a:srgbClr val="1CBEAA"/>
                </a:solidFill>
              </a:defRPr>
            </a:pPr>
            <a:r>
              <a:t>INSIGHT</a:t>
            </a:r>
          </a:p>
        </p:txBody>
      </p:sp>
      <p:sp>
        <p:nvSpPr>
          <p:cNvPr id="15" name="TextBox 14"/>
          <p:cNvSpPr txBox="1"/>
          <p:nvPr/>
        </p:nvSpPr>
        <p:spPr>
          <a:xfrm>
            <a:off x="1600200" y="5157216"/>
            <a:ext cx="9784080" cy="594360"/>
          </a:xfrm>
          <a:prstGeom prst="rect">
            <a:avLst/>
          </a:prstGeom>
          <a:noFill/>
        </p:spPr>
        <p:txBody>
          <a:bodyPr wrap="none">
            <a:spAutoFit/>
          </a:bodyPr>
          <a:lstStyle/>
          <a:p>
            <a:pPr>
              <a:defRPr sz="1150" b="0">
                <a:solidFill>
                  <a:srgbClr val="F5F8FC"/>
                </a:solidFill>
              </a:defRPr>
            </a:pPr>
            <a:r>
              <a:t>BSc Data Science has four students with the highest score of 100. BCA has a highest score of 99, while BSc Information Technology and BSc Computer Science have highest scores of 98. If marks are tied, the query correctly returns all students with that course's maximum mark.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7315200" cy="320040"/>
          </a:xfrm>
          <a:prstGeom prst="rect">
            <a:avLst/>
          </a:prstGeom>
          <a:noFill/>
        </p:spPr>
        <p:txBody>
          <a:bodyPr wrap="none">
            <a:spAutoFit/>
          </a:bodyPr>
          <a:lstStyle/>
          <a:p>
            <a:pPr>
              <a:defRPr sz="1000" b="1">
                <a:solidFill>
                  <a:srgbClr val="1CBEAA"/>
                </a:solidFill>
              </a:defRPr>
            </a:pPr>
            <a:r>
              <a:t>07 • CONCLUSION</a:t>
            </a:r>
          </a:p>
        </p:txBody>
      </p:sp>
      <p:sp>
        <p:nvSpPr>
          <p:cNvPr id="4" name="TextBox 3"/>
          <p:cNvSpPr txBox="1"/>
          <p:nvPr/>
        </p:nvSpPr>
        <p:spPr>
          <a:xfrm>
            <a:off x="640080" y="960120"/>
            <a:ext cx="10515600" cy="731520"/>
          </a:xfrm>
          <a:prstGeom prst="rect">
            <a:avLst/>
          </a:prstGeom>
          <a:noFill/>
        </p:spPr>
        <p:txBody>
          <a:bodyPr wrap="none">
            <a:spAutoFit/>
          </a:bodyPr>
          <a:lstStyle/>
          <a:p>
            <a:pPr>
              <a:defRPr sz="3600" b="1">
                <a:solidFill>
                  <a:srgbClr val="F5F8FC"/>
                </a:solidFill>
              </a:defRPr>
            </a:pPr>
            <a:r>
              <a:t>Conclusion</a:t>
            </a:r>
          </a:p>
        </p:txBody>
      </p:sp>
      <p:sp>
        <p:nvSpPr>
          <p:cNvPr id="5" name="TextBox 4"/>
          <p:cNvSpPr txBox="1"/>
          <p:nvPr/>
        </p:nvSpPr>
        <p:spPr>
          <a:xfrm>
            <a:off x="685800" y="1828800"/>
            <a:ext cx="10515600" cy="2743200"/>
          </a:xfrm>
          <a:prstGeom prst="rect">
            <a:avLst/>
          </a:prstGeom>
          <a:noFill/>
        </p:spPr>
        <p:txBody>
          <a:bodyPr wrap="square">
            <a:spAutoFit/>
          </a:bodyPr>
          <a:lstStyle/>
          <a:p>
            <a:pPr>
              <a:spcAft>
                <a:spcPts val="1400"/>
              </a:spcAft>
              <a:defRPr sz="1700">
                <a:solidFill>
                  <a:srgbClr val="F5F8FC"/>
                </a:solidFill>
              </a:defRPr>
            </a:pPr>
            <a:r>
              <a:t>• The Student Management System successfully connects students, courses, departments, faculty and enrollments.</a:t>
            </a:r>
          </a:p>
          <a:p>
            <a:pPr>
              <a:spcAft>
                <a:spcPts val="1400"/>
              </a:spcAft>
              <a:defRPr sz="1700">
                <a:solidFill>
                  <a:srgbClr val="F5F8FC"/>
                </a:solidFill>
              </a:defRPr>
            </a:pPr>
            <a:r>
              <a:t>• The project demonstrates SQL concepts such as JOIN, LEFT JOIN, GROUP BY, aggregate functions, ORDER BY and LIMIT.</a:t>
            </a:r>
          </a:p>
          <a:p>
            <a:pPr>
              <a:spcAft>
                <a:spcPts val="1400"/>
              </a:spcAft>
              <a:defRPr sz="1700">
                <a:solidFill>
                  <a:srgbClr val="F5F8FC"/>
                </a:solidFill>
              </a:defRPr>
            </a:pPr>
            <a:r>
              <a:t>• The queries help analyze student distribution, course enrollment and academic performance.</a:t>
            </a:r>
          </a:p>
          <a:p>
            <a:pPr>
              <a:spcAft>
                <a:spcPts val="1400"/>
              </a:spcAft>
              <a:defRPr sz="1700">
                <a:solidFill>
                  <a:srgbClr val="F5F8FC"/>
                </a:solidFill>
              </a:defRPr>
            </a:pPr>
            <a:r>
              <a:t>• The database can be extended with attendance, fees, examinations and other college management modules.</a:t>
            </a:r>
          </a:p>
        </p:txBody>
      </p:sp>
      <p:sp>
        <p:nvSpPr>
          <p:cNvPr id="6" name="TextBox 5"/>
          <p:cNvSpPr txBox="1"/>
          <p:nvPr/>
        </p:nvSpPr>
        <p:spPr>
          <a:xfrm>
            <a:off x="685800" y="5074920"/>
            <a:ext cx="10058400" cy="594360"/>
          </a:xfrm>
          <a:prstGeom prst="rect">
            <a:avLst/>
          </a:prstGeom>
          <a:noFill/>
        </p:spPr>
        <p:txBody>
          <a:bodyPr wrap="none">
            <a:spAutoFit/>
          </a:bodyPr>
          <a:lstStyle/>
          <a:p>
            <a:pPr>
              <a:defRPr sz="1500" b="1">
                <a:solidFill>
                  <a:srgbClr val="F5B84A"/>
                </a:solidFill>
              </a:defRPr>
            </a:pPr>
            <a:r>
              <a:t>Overall: A practical MySQL project demonstrating relational database and SQL analysis skills.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CBE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7315200" cy="320040"/>
          </a:xfrm>
          <a:prstGeom prst="rect">
            <a:avLst/>
          </a:prstGeom>
          <a:noFill/>
        </p:spPr>
        <p:txBody>
          <a:bodyPr wrap="none">
            <a:spAutoFit/>
          </a:bodyPr>
          <a:lstStyle/>
          <a:p>
            <a:pPr>
              <a:defRPr sz="1000" b="1">
                <a:solidFill>
                  <a:srgbClr val="1CBEAA"/>
                </a:solidFill>
              </a:defRPr>
            </a:pPr>
            <a:r>
              <a:t>IT VEDANT • SQL / MYSQL PROJECT</a:t>
            </a:r>
          </a:p>
        </p:txBody>
      </p:sp>
      <p:sp>
        <p:nvSpPr>
          <p:cNvPr id="4" name="TextBox 3"/>
          <p:cNvSpPr txBox="1"/>
          <p:nvPr/>
        </p:nvSpPr>
        <p:spPr>
          <a:xfrm>
            <a:off x="10881360" y="201168"/>
            <a:ext cx="640080" cy="320040"/>
          </a:xfrm>
          <a:prstGeom prst="rect">
            <a:avLst/>
          </a:prstGeom>
          <a:noFill/>
        </p:spPr>
        <p:txBody>
          <a:bodyPr wrap="none">
            <a:spAutoFit/>
          </a:bodyPr>
          <a:lstStyle/>
          <a:p>
            <a:pPr algn="r">
              <a:defRPr sz="1000" b="1">
                <a:solidFill>
                  <a:srgbClr val="A6B5C7"/>
                </a:solidFill>
              </a:defRPr>
            </a:pPr>
            <a:r>
              <a:t>09</a:t>
            </a:r>
          </a:p>
        </p:txBody>
      </p:sp>
      <p:sp>
        <p:nvSpPr>
          <p:cNvPr id="5" name="TextBox 4"/>
          <p:cNvSpPr txBox="1"/>
          <p:nvPr/>
        </p:nvSpPr>
        <p:spPr>
          <a:xfrm>
            <a:off x="731520" y="1828800"/>
            <a:ext cx="10058400" cy="914400"/>
          </a:xfrm>
          <a:prstGeom prst="rect">
            <a:avLst/>
          </a:prstGeom>
          <a:noFill/>
        </p:spPr>
        <p:txBody>
          <a:bodyPr wrap="none">
            <a:spAutoFit/>
          </a:bodyPr>
          <a:lstStyle/>
          <a:p>
            <a:pPr>
              <a:defRPr sz="4800" b="1">
                <a:solidFill>
                  <a:srgbClr val="F5F8FC"/>
                </a:solidFill>
              </a:defRPr>
            </a:pPr>
            <a:r>
              <a:t>Thank You!</a:t>
            </a:r>
          </a:p>
        </p:txBody>
      </p:sp>
      <p:sp>
        <p:nvSpPr>
          <p:cNvPr id="6" name="TextBox 5"/>
          <p:cNvSpPr txBox="1"/>
          <p:nvPr/>
        </p:nvSpPr>
        <p:spPr>
          <a:xfrm>
            <a:off x="749808" y="2743200"/>
            <a:ext cx="9144000" cy="548640"/>
          </a:xfrm>
          <a:prstGeom prst="rect">
            <a:avLst/>
          </a:prstGeom>
          <a:noFill/>
        </p:spPr>
        <p:txBody>
          <a:bodyPr wrap="none">
            <a:spAutoFit/>
          </a:bodyPr>
          <a:lstStyle/>
          <a:p>
            <a:pPr>
              <a:defRPr sz="2300" b="1">
                <a:solidFill>
                  <a:srgbClr val="1CBEAA"/>
                </a:solidFill>
              </a:defRPr>
            </a:pPr>
            <a:r>
              <a:t>Student Management System</a:t>
            </a:r>
          </a:p>
        </p:txBody>
      </p:sp>
      <p:sp>
        <p:nvSpPr>
          <p:cNvPr id="7" name="TextBox 6"/>
          <p:cNvSpPr txBox="1"/>
          <p:nvPr/>
        </p:nvSpPr>
        <p:spPr>
          <a:xfrm>
            <a:off x="749808" y="3794760"/>
            <a:ext cx="7315200" cy="457200"/>
          </a:xfrm>
          <a:prstGeom prst="rect">
            <a:avLst/>
          </a:prstGeom>
          <a:noFill/>
        </p:spPr>
        <p:txBody>
          <a:bodyPr wrap="none">
            <a:spAutoFit/>
          </a:bodyPr>
          <a:lstStyle/>
          <a:p>
            <a:pPr>
              <a:defRPr sz="1800" b="0">
                <a:solidFill>
                  <a:srgbClr val="A6B5C7"/>
                </a:solidFill>
              </a:defRPr>
            </a:pPr>
            <a:r>
              <a:t>Presented by Arshad Mansuri</a:t>
            </a:r>
          </a:p>
        </p:txBody>
      </p:sp>
      <p:sp>
        <p:nvSpPr>
          <p:cNvPr id="8" name="TextBox 7"/>
          <p:cNvSpPr txBox="1"/>
          <p:nvPr/>
        </p:nvSpPr>
        <p:spPr>
          <a:xfrm>
            <a:off x="749808" y="4297680"/>
            <a:ext cx="7315200" cy="457200"/>
          </a:xfrm>
          <a:prstGeom prst="rect">
            <a:avLst/>
          </a:prstGeom>
          <a:noFill/>
        </p:spPr>
        <p:txBody>
          <a:bodyPr wrap="none">
            <a:spAutoFit/>
          </a:bodyPr>
          <a:lstStyle/>
          <a:p>
            <a:pPr>
              <a:defRPr sz="1500" b="0">
                <a:solidFill>
                  <a:srgbClr val="A6B5C7"/>
                </a:solidFill>
              </a:defRPr>
            </a:pPr>
            <a:r>
              <a:t>IT Vedant • MySQL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